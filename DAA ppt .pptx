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91" r:id="rId2"/>
    <p:sldId id="301" r:id="rId3"/>
    <p:sldId id="273" r:id="rId4"/>
    <p:sldId id="303" r:id="rId5"/>
    <p:sldId id="292" r:id="rId6"/>
    <p:sldId id="306" r:id="rId7"/>
    <p:sldId id="311" r:id="rId8"/>
    <p:sldId id="299" r:id="rId9"/>
    <p:sldId id="260" r:id="rId10"/>
    <p:sldId id="261" r:id="rId11"/>
    <p:sldId id="264" r:id="rId12"/>
    <p:sldId id="308" r:id="rId13"/>
    <p:sldId id="304" r:id="rId14"/>
    <p:sldId id="305" r:id="rId15"/>
    <p:sldId id="29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8" d="100"/>
          <a:sy n="58" d="100"/>
        </p:scale>
        <p:origin x="964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NU KARANAM" userId="7abbaa3388f441c1" providerId="LiveId" clId="{72973AE6-85DD-46C0-AB71-2F323668B372}"/>
    <pc:docChg chg="undo custSel delSld modSld sldOrd">
      <pc:chgData name="SHANNU KARANAM" userId="7abbaa3388f441c1" providerId="LiveId" clId="{72973AE6-85DD-46C0-AB71-2F323668B372}" dt="2026-02-02T09:14:05.149" v="907" actId="403"/>
      <pc:docMkLst>
        <pc:docMk/>
      </pc:docMkLst>
      <pc:sldChg chg="modSp mod">
        <pc:chgData name="SHANNU KARANAM" userId="7abbaa3388f441c1" providerId="LiveId" clId="{72973AE6-85DD-46C0-AB71-2F323668B372}" dt="2026-02-02T09:14:05.149" v="907" actId="403"/>
        <pc:sldMkLst>
          <pc:docMk/>
          <pc:sldMk cId="0" sldId="261"/>
        </pc:sldMkLst>
        <pc:spChg chg="mod">
          <ac:chgData name="SHANNU KARANAM" userId="7abbaa3388f441c1" providerId="LiveId" clId="{72973AE6-85DD-46C0-AB71-2F323668B372}" dt="2026-02-02T09:14:05.149" v="907" actId="403"/>
          <ac:spMkLst>
            <pc:docMk/>
            <pc:sldMk cId="0" sldId="261"/>
            <ac:spMk id="4" creationId="{1AAAE957-AFCC-75C4-DAED-5889EE86BB5E}"/>
          </ac:spMkLst>
        </pc:spChg>
      </pc:sldChg>
      <pc:sldChg chg="addSp delSp modSp mod">
        <pc:chgData name="SHANNU KARANAM" userId="7abbaa3388f441c1" providerId="LiveId" clId="{72973AE6-85DD-46C0-AB71-2F323668B372}" dt="2026-02-02T09:04:03.515" v="903" actId="1035"/>
        <pc:sldMkLst>
          <pc:docMk/>
          <pc:sldMk cId="2730817285" sldId="308"/>
        </pc:sldMkLst>
        <pc:picChg chg="mod">
          <ac:chgData name="SHANNU KARANAM" userId="7abbaa3388f441c1" providerId="LiveId" clId="{72973AE6-85DD-46C0-AB71-2F323668B372}" dt="2026-02-02T09:04:03.515" v="903" actId="1035"/>
          <ac:picMkLst>
            <pc:docMk/>
            <pc:sldMk cId="2730817285" sldId="308"/>
            <ac:picMk id="2" creationId="{E1417F83-D32B-774D-0E93-4A11EEC0113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60BE2D-ED98-4575-94C3-74FD3E97F42E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75948F-4DC2-48B6-A5F6-38342A4BA7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576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>
          <a:extLst>
            <a:ext uri="{FF2B5EF4-FFF2-40B4-BE49-F238E27FC236}">
              <a16:creationId xmlns:a16="http://schemas.microsoft.com/office/drawing/2014/main" id="{53A239A7-2BFE-59D9-62D4-D34B37274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6dfe6d782_0_138:notes">
            <a:extLst>
              <a:ext uri="{FF2B5EF4-FFF2-40B4-BE49-F238E27FC236}">
                <a16:creationId xmlns:a16="http://schemas.microsoft.com/office/drawing/2014/main" id="{36782AEE-DE3A-3108-DCB4-862EF0CE95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66dfe6d782_0_138:notes">
            <a:extLst>
              <a:ext uri="{FF2B5EF4-FFF2-40B4-BE49-F238E27FC236}">
                <a16:creationId xmlns:a16="http://schemas.microsoft.com/office/drawing/2014/main" id="{6A9452C0-1446-370F-639C-955DB882C1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5010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82b4526a9a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82b4526a9a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2b4526a9a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82b4526a9a_0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2b4526a9a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82b4526a9a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5941E738-DDE0-28C1-FE5C-1E329B32A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2b4526a9a_0_326:notes">
            <a:extLst>
              <a:ext uri="{FF2B5EF4-FFF2-40B4-BE49-F238E27FC236}">
                <a16:creationId xmlns:a16="http://schemas.microsoft.com/office/drawing/2014/main" id="{00EF6A20-7ED4-9243-C094-FBBEED6F03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82b4526a9a_0_326:notes">
            <a:extLst>
              <a:ext uri="{FF2B5EF4-FFF2-40B4-BE49-F238E27FC236}">
                <a16:creationId xmlns:a16="http://schemas.microsoft.com/office/drawing/2014/main" id="{C1183007-A245-C3B9-2D18-FFD1E9E32D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0982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48B91E2F-9AFF-D821-8EDB-39B6DB1A2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2b4526a9a_0_326:notes">
            <a:extLst>
              <a:ext uri="{FF2B5EF4-FFF2-40B4-BE49-F238E27FC236}">
                <a16:creationId xmlns:a16="http://schemas.microsoft.com/office/drawing/2014/main" id="{84316678-E8DB-B464-FA24-EF473231BD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82b4526a9a_0_326:notes">
            <a:extLst>
              <a:ext uri="{FF2B5EF4-FFF2-40B4-BE49-F238E27FC236}">
                <a16:creationId xmlns:a16="http://schemas.microsoft.com/office/drawing/2014/main" id="{A446B0C7-B882-D2F8-87D5-5FC3C00996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07333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>
          <a:extLst>
            <a:ext uri="{FF2B5EF4-FFF2-40B4-BE49-F238E27FC236}">
              <a16:creationId xmlns:a16="http://schemas.microsoft.com/office/drawing/2014/main" id="{6F4E3E4C-EE0D-283F-9B54-C1C0A129F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2b4526a9a_0_326:notes">
            <a:extLst>
              <a:ext uri="{FF2B5EF4-FFF2-40B4-BE49-F238E27FC236}">
                <a16:creationId xmlns:a16="http://schemas.microsoft.com/office/drawing/2014/main" id="{749B6E26-13E1-F48E-700E-2077D18843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82b4526a9a_0_326:notes">
            <a:extLst>
              <a:ext uri="{FF2B5EF4-FFF2-40B4-BE49-F238E27FC236}">
                <a16:creationId xmlns:a16="http://schemas.microsoft.com/office/drawing/2014/main" id="{E93F105C-6990-6C43-3A98-754BA6A7F1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3856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08FC8-F22D-FE62-F50E-790F95D1CE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3D97C3-A51B-E88E-5351-8C1227AB7A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93DC83-7D83-7B9F-DC93-875C74695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37884-E5F5-4D14-AE7F-C6BAC9ACCD5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0D432-DC45-0757-11D8-84B6CEC79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0EFCB-5399-90FD-8953-36F72C690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412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9D0FD-DFD6-3A6D-C8B4-CF981385B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5E80-2D3F-5EFA-C9B3-48F72B466D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3DA04-6747-B068-A676-A09653C66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37884-E5F5-4D14-AE7F-C6BAC9ACCD5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574E0-132B-13DF-C688-94D0D2EBD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E58A0-F397-96CE-413F-12EE5D72A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494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8F0FF-AD2A-A14A-7D11-238E8E149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94DDD-CA94-1117-C2A0-E47CD6F99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B030A-67C3-080A-49FE-967A67E76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37884-E5F5-4D14-AE7F-C6BAC9ACCD5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C72CE-9771-12EF-6FBC-DCE670135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FE1A7-F7F5-6652-E86A-E2C0FCC7B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994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80D78-38EB-F69C-2035-0E8A0BB47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B0786-C25B-7934-BE12-57924B0A29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B804EB-6A6E-64CE-6D08-A96B54377F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7AAB3-FAE2-C352-0DB6-08E5DC1DE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37884-E5F5-4D14-AE7F-C6BAC9ACCD5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EF4A34-5708-2512-3D6B-7D9087ED5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5FC9CF-E1CB-EC75-7E77-DB7854A62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92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B5A1C-60AA-C806-B3CA-2BD237CB1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A14F1A-A513-347D-38E7-BF37E5D95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048FD-5DED-82A6-8BAC-0CD7CD1948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6FC93B-C1AF-8B98-6391-22F9CF24E6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287DED-12D2-63C1-8698-6F215C5799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6657CA-9239-6BA3-93D6-F1D23A5C1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37884-E5F5-4D14-AE7F-C6BAC9ACCD5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2DBAE0-5344-32B1-CF66-686D9C697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EE8E71-6644-B0B7-0CAA-A208061D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76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A745F-E401-2F2B-87CB-AD78FB6D8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83BF37-4325-B942-ADA0-CDDD1E027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37884-E5F5-4D14-AE7F-C6BAC9ACCD5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F49CF3-2A9D-C97A-5DF9-4659EF964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7DEC7A-DECF-0C41-88E1-61F409FD4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00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C12061-6F16-628D-EB83-639603EA3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37884-E5F5-4D14-AE7F-C6BAC9ACCD5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7F23DB-DD08-CADB-C2FE-13BE22FE7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75B9E-1054-8BDA-3F26-D3751E1C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281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19369-FD04-3571-F601-057D80721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71F86-C013-0A35-61C8-6DD03F232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5DC90E-3EBC-2557-CFDD-A4A8F2A23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CD388-862E-8E6D-4CA2-9BCA954A4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37884-E5F5-4D14-AE7F-C6BAC9ACCD5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9C975F-A208-8978-BA09-AAC449878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1FD0D4-D202-CFC1-8C6D-3E89AF109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310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3DD26-06D5-F5F3-6708-C8A4268B6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C5FBB6-B888-B536-F92B-DE5779090C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25308-2FB2-583E-1336-C9344EC61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66C97-D711-04C1-B797-E94536449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37884-E5F5-4D14-AE7F-C6BAC9ACCD5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D9E349-4152-A050-DB15-10806DA01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B718B7-5EF5-1B1B-1D35-4D768328C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44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B2295-692D-42E5-9F59-DD79A9C00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39F344-56D9-E3EB-6919-972FFB263B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EE289-A81F-7611-E90B-D1A4C087B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37884-E5F5-4D14-AE7F-C6BAC9ACCD5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5B38A-5609-E72E-9856-55BB5647E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E38C5-2C8B-BFA1-665B-9E1C6DCC7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51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E684ED-F7C9-4D0E-7567-51E7385DC1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D4335C-6AE9-9C31-FABC-7B85AA4E6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BEA0A-CF68-9B44-4B8C-FEC5067A1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37884-E5F5-4D14-AE7F-C6BAC9ACCD5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22123-9EE0-0D16-9D8A-1461FB158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50494-BD1F-73D6-9CAD-D5CF8C5B9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236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 title="Sin título-7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3318" y="104799"/>
            <a:ext cx="11965369" cy="6566735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>
            <a:spLocks noGrp="1"/>
          </p:cNvSpPr>
          <p:nvPr>
            <p:ph type="subTitle" idx="1"/>
          </p:nvPr>
        </p:nvSpPr>
        <p:spPr>
          <a:xfrm>
            <a:off x="4720004" y="1774317"/>
            <a:ext cx="52552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067">
                <a:latin typeface="VT323"/>
                <a:ea typeface="VT323"/>
                <a:cs typeface="VT323"/>
                <a:sym typeface="VT323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2"/>
          </p:nvPr>
        </p:nvSpPr>
        <p:spPr>
          <a:xfrm>
            <a:off x="4720004" y="4090368"/>
            <a:ext cx="52552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067">
                <a:latin typeface="VT323"/>
                <a:ea typeface="VT323"/>
                <a:cs typeface="VT323"/>
                <a:sym typeface="VT323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32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3"/>
          </p:nvPr>
        </p:nvSpPr>
        <p:spPr>
          <a:xfrm>
            <a:off x="4720004" y="2436315"/>
            <a:ext cx="5255200" cy="15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4"/>
          </p:nvPr>
        </p:nvSpPr>
        <p:spPr>
          <a:xfrm>
            <a:off x="4720004" y="4752367"/>
            <a:ext cx="5255200" cy="155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455800" y="873067"/>
            <a:ext cx="11431600" cy="80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pic>
        <p:nvPicPr>
          <p:cNvPr id="39" name="Google Shape;39;p5" title="Sin título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534" y="262234"/>
            <a:ext cx="11526669" cy="41086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83486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F480C5-D524-B95D-B3BE-6A81E0334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A23D4-F343-AB2C-A3F3-F9AF43AA8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0C8F0-CBB5-A55F-182B-C95861550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037884-E5F5-4D14-AE7F-C6BAC9ACCD52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6ADA4-895D-8499-E54C-13470D3EF6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E94AD-A2DC-534A-5D4A-2C100B294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AD05EE-9B04-45B4-BE98-77F3AF7FEE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963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jpe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jpe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>
          <a:extLst>
            <a:ext uri="{FF2B5EF4-FFF2-40B4-BE49-F238E27FC236}">
              <a16:creationId xmlns:a16="http://schemas.microsoft.com/office/drawing/2014/main" id="{00C0379A-FDD7-C651-24E6-9A879A11B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C2FDA0-6F14-95CC-C28D-AFB512F96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018" y="1259941"/>
            <a:ext cx="10874925" cy="3117773"/>
          </a:xfrm>
        </p:spPr>
        <p:txBody>
          <a:bodyPr>
            <a:normAutofit/>
          </a:bodyPr>
          <a:lstStyle/>
          <a:p>
            <a:pPr algn="ctr"/>
            <a:r>
              <a:rPr lang="en-US" sz="3600">
                <a:solidFill>
                  <a:srgbClr val="C00000"/>
                </a:solidFill>
                <a:latin typeface="Times New Roman"/>
                <a:cs typeface="Times New Roman"/>
              </a:rPr>
              <a:t>AI-Based Puzzle Solver Using Backtracking and Heuristics</a:t>
            </a:r>
            <a:br>
              <a:rPr lang="en-US" sz="3600">
                <a:solidFill>
                  <a:srgbClr val="C00000"/>
                </a:solidFill>
                <a:latin typeface="Times New Roman"/>
                <a:cs typeface="Times New Roman"/>
              </a:rPr>
            </a:br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CSA 0612</a:t>
            </a:r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Analysis of Algorithms for Backtracking</a:t>
            </a:r>
            <a:br>
              <a:rPr lang="en-IN" sz="3600" spc="-1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>
              <a:solidFill>
                <a:srgbClr val="C00000"/>
              </a:solidFill>
            </a:endParaRPr>
          </a:p>
        </p:txBody>
      </p:sp>
      <p:pic>
        <p:nvPicPr>
          <p:cNvPr id="2050" name="Picture 2" descr="SIMATS ENGINEERING —BIOTECHNOLOGY">
            <a:extLst>
              <a:ext uri="{FF2B5EF4-FFF2-40B4-BE49-F238E27FC236}">
                <a16:creationId xmlns:a16="http://schemas.microsoft.com/office/drawing/2014/main" id="{EBB794B4-8F64-A737-C2B5-70C223BD13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303" y="60690"/>
            <a:ext cx="11810357" cy="1162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3B50E4-CEB7-3CF8-588F-B289EDB0A5C1}"/>
              </a:ext>
            </a:extLst>
          </p:cNvPr>
          <p:cNvSpPr txBox="1"/>
          <p:nvPr/>
        </p:nvSpPr>
        <p:spPr>
          <a:xfrm>
            <a:off x="325173" y="3677537"/>
            <a:ext cx="5383527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400" b="1">
                <a:latin typeface="Times New Roman"/>
                <a:cs typeface="Times New Roman"/>
              </a:rPr>
              <a:t>GUIDED BY:</a:t>
            </a:r>
          </a:p>
          <a:p>
            <a:r>
              <a:rPr lang="en-IN" sz="2400">
                <a:latin typeface="Times New Roman"/>
                <a:cs typeface="Times New Roman"/>
              </a:rPr>
              <a:t>Dr. S. Tamilselvan,</a:t>
            </a:r>
            <a:b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>
                <a:latin typeface="Times New Roman"/>
                <a:cs typeface="Times New Roman"/>
              </a:rPr>
              <a:t>Dr. P. Solainayagi</a:t>
            </a:r>
          </a:p>
          <a:p>
            <a:r>
              <a:rPr lang="en-IN" sz="2400">
                <a:latin typeface="Times New Roman"/>
                <a:cs typeface="Times New Roman"/>
              </a:rPr>
              <a:t>SIMATS ENGINEERING</a:t>
            </a:r>
          </a:p>
          <a:p>
            <a:r>
              <a:rPr lang="en-IN" sz="2400">
                <a:latin typeface="Times New Roman"/>
                <a:cs typeface="Times New Roman"/>
              </a:rPr>
              <a:t>CHENNAI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48CF37-E31A-6EEE-BC99-20F5D425A24A}"/>
              </a:ext>
            </a:extLst>
          </p:cNvPr>
          <p:cNvSpPr txBox="1"/>
          <p:nvPr/>
        </p:nvSpPr>
        <p:spPr>
          <a:xfrm>
            <a:off x="5486400" y="2818828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253227-A697-F3C3-46D2-424403263327}"/>
              </a:ext>
            </a:extLst>
          </p:cNvPr>
          <p:cNvSpPr txBox="1"/>
          <p:nvPr/>
        </p:nvSpPr>
        <p:spPr>
          <a:xfrm>
            <a:off x="6407675" y="3677344"/>
            <a:ext cx="5784325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2400" b="1">
                <a:latin typeface="Times New Roman"/>
                <a:cs typeface="Times New Roman"/>
              </a:rPr>
              <a:t>PRESENTED BY:</a:t>
            </a:r>
          </a:p>
          <a:p>
            <a:r>
              <a:rPr lang="en-IN" sz="2400" spc="-10">
                <a:latin typeface="Times New Roman"/>
                <a:cs typeface="Times New Roman"/>
              </a:rPr>
              <a:t>P. Dada Kalander (192424272)</a:t>
            </a:r>
          </a:p>
          <a:p>
            <a:r>
              <a:rPr lang="en-IN" sz="2400" spc="-10">
                <a:latin typeface="Times New Roman"/>
                <a:cs typeface="Times New Roman"/>
              </a:rPr>
              <a:t>K. V. Sai Shanmukh (192424306)</a:t>
            </a:r>
            <a:r>
              <a:rPr lang="en-IN" sz="2400" spc="-25">
                <a:latin typeface="Times New Roman"/>
                <a:cs typeface="Times New Roman"/>
              </a:rPr>
              <a:t>  </a:t>
            </a:r>
          </a:p>
          <a:p>
            <a:r>
              <a:rPr lang="en-IN" sz="2400" spc="-25">
                <a:latin typeface="Times New Roman"/>
                <a:cs typeface="Times New Roman"/>
              </a:rPr>
              <a:t>Department of AI&amp;DS</a:t>
            </a:r>
          </a:p>
          <a:p>
            <a:r>
              <a:rPr lang="en-IN" sz="2400">
                <a:latin typeface="Times New Roman"/>
                <a:cs typeface="Times New Roman"/>
              </a:rPr>
              <a:t>SIMATS ENGINEERING</a:t>
            </a:r>
          </a:p>
          <a:p>
            <a:r>
              <a:rPr lang="en-IN" sz="2400">
                <a:latin typeface="Times New Roman"/>
                <a:cs typeface="Times New Roman"/>
              </a:rPr>
              <a:t>CHENNAI   </a:t>
            </a:r>
          </a:p>
        </p:txBody>
      </p:sp>
    </p:spTree>
    <p:extLst>
      <p:ext uri="{BB962C8B-B14F-4D97-AF65-F5344CB8AC3E}">
        <p14:creationId xmlns:p14="http://schemas.microsoft.com/office/powerpoint/2010/main" val="1993786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7D12C-61AC-0362-8B4C-8DBF07841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8C4B9-B757-0CFF-D22E-4286C6FC7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3706" y="215227"/>
            <a:ext cx="5412120" cy="838200"/>
          </a:xfrm>
        </p:spPr>
        <p:txBody>
          <a:bodyPr/>
          <a:lstStyle/>
          <a:p>
            <a:pPr algn="ctr"/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D9731-B866-48A0-78E5-023BB6CB8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634" y="1518663"/>
            <a:ext cx="3944196" cy="518944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dirty="0">
                <a:latin typeface="Times New Roman"/>
                <a:cs typeface="Times New Roman"/>
              </a:rPr>
              <a:t>Introduction</a:t>
            </a:r>
          </a:p>
          <a:p>
            <a:r>
              <a:rPr lang="en-US" sz="2400" dirty="0">
                <a:latin typeface="Times New Roman"/>
                <a:cs typeface="Times New Roman"/>
              </a:rPr>
              <a:t>Problem statement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effectLst/>
                <a:latin typeface="Times New Roman"/>
                <a:cs typeface="Times New Roman"/>
              </a:rPr>
              <a:t>Objectives</a:t>
            </a:r>
          </a:p>
          <a:p>
            <a:r>
              <a:rPr lang="en-US" sz="2400" dirty="0">
                <a:latin typeface="Times New Roman"/>
                <a:cs typeface="Times New Roman"/>
              </a:rPr>
              <a:t>Proposed methodology</a:t>
            </a:r>
          </a:p>
          <a:p>
            <a:r>
              <a:rPr lang="en-US" sz="2400" dirty="0">
                <a:latin typeface="Times New Roman"/>
                <a:cs typeface="Times New Roman"/>
              </a:rPr>
              <a:t>Architecture diagram</a:t>
            </a:r>
          </a:p>
          <a:p>
            <a:r>
              <a:rPr lang="en-US" sz="2400" dirty="0">
                <a:latin typeface="Times New Roman"/>
                <a:cs typeface="Times New Roman"/>
              </a:rPr>
              <a:t>Modules</a:t>
            </a:r>
          </a:p>
          <a:p>
            <a:r>
              <a:rPr lang="en-US" sz="2400" dirty="0">
                <a:latin typeface="Times New Roman"/>
                <a:cs typeface="Times New Roman"/>
              </a:rPr>
              <a:t>Implementation</a:t>
            </a:r>
          </a:p>
          <a:p>
            <a:r>
              <a:rPr lang="en-US" sz="2400" dirty="0">
                <a:latin typeface="Times New Roman"/>
                <a:cs typeface="Times New Roman"/>
              </a:rPr>
              <a:t>Conclusion</a:t>
            </a:r>
          </a:p>
          <a:p>
            <a:r>
              <a:rPr lang="en-US" sz="2400" dirty="0">
                <a:effectLst/>
                <a:latin typeface="Times New Roman"/>
                <a:cs typeface="Times New Roman"/>
              </a:rPr>
              <a:t>Future scope</a:t>
            </a:r>
          </a:p>
          <a:p>
            <a:r>
              <a:rPr lang="en-US" sz="2400" dirty="0">
                <a:effectLst/>
                <a:latin typeface="Times New Roman"/>
                <a:cs typeface="Times New Roman"/>
              </a:rPr>
              <a:t>References</a:t>
            </a:r>
          </a:p>
          <a:p>
            <a:endParaRPr lang="en-US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38324CCD-6360-9BF1-B2F2-87DE79958D2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52" y="0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93BE3B74-8419-CA88-5A49-612CD4FDEB1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25089" y="0"/>
            <a:ext cx="1520062" cy="13428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C4A92F-AB71-465E-5D5A-D9CD1D970C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203" t="1787" r="4620" b="5704"/>
          <a:stretch>
            <a:fillRect/>
          </a:stretch>
        </p:blipFill>
        <p:spPr>
          <a:xfrm>
            <a:off x="6546267" y="1496712"/>
            <a:ext cx="4738853" cy="392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792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692F8-8C1F-B843-9BAA-542C9AD81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3706" y="215227"/>
            <a:ext cx="5412120" cy="838200"/>
          </a:xfrm>
        </p:spPr>
        <p:txBody>
          <a:bodyPr/>
          <a:lstStyle/>
          <a:p>
            <a:pPr algn="ctr"/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624FC763-F237-D9DB-5F57-D31FAED808F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E360F5B1-3961-5806-AB04-2C03522C640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FED8D8CA-9050-6D02-A874-13E6417F1B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352" y="2026298"/>
            <a:ext cx="755404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>
                <a:latin typeface="Times New Roman"/>
                <a:ea typeface="+mn-lt"/>
                <a:cs typeface="+mn-lt"/>
              </a:rPr>
              <a:t>Puzzle solving is a key problem in Artificial Intelligence and can be modeled as a Constraint Satisfaction Problem (CSP).</a:t>
            </a:r>
            <a:endParaRPr lang="en-US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>
                <a:latin typeface="Times New Roman"/>
                <a:ea typeface="+mn-lt"/>
                <a:cs typeface="+mn-lt"/>
              </a:rPr>
              <a:t>Traditional backtracking is correct but inefficient for complex puzzles.</a:t>
            </a:r>
            <a:endParaRPr lang="en-US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>
                <a:latin typeface="Times New Roman"/>
                <a:ea typeface="+mn-lt"/>
                <a:cs typeface="+mn-lt"/>
              </a:rPr>
              <a:t>This project combines backtracking with heuristics (MRV, LCV, Forward Checking) to improve efficiency.</a:t>
            </a:r>
            <a:endParaRPr lang="en-US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>
                <a:latin typeface="Times New Roman"/>
                <a:ea typeface="+mn-lt"/>
                <a:cs typeface="+mn-lt"/>
              </a:rPr>
              <a:t>Real-time visualization and analysis demonstrate the effectiveness of the proposed approach.</a:t>
            </a:r>
            <a:endParaRPr lang="en-US" sz="2400">
              <a:latin typeface="Times New Roman"/>
              <a:cs typeface="Times New Roman"/>
            </a:endParaRPr>
          </a:p>
        </p:txBody>
      </p:sp>
      <p:pic>
        <p:nvPicPr>
          <p:cNvPr id="6" name="Picture 5" descr="Constraint Satisfaction Problem - Essential Components, 1 Example And ...">
            <a:extLst>
              <a:ext uri="{FF2B5EF4-FFF2-40B4-BE49-F238E27FC236}">
                <a16:creationId xmlns:a16="http://schemas.microsoft.com/office/drawing/2014/main" id="{96493F51-EEAD-3D3C-EC24-205596AFD5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9431" y="2152276"/>
            <a:ext cx="3370727" cy="3293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448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63013-411C-C08A-A49A-654F51FC2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06E9-75CB-14C8-713E-595269BA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3706" y="215227"/>
            <a:ext cx="5412120" cy="838200"/>
          </a:xfrm>
        </p:spPr>
        <p:txBody>
          <a:bodyPr/>
          <a:lstStyle/>
          <a:p>
            <a:pPr algn="ctr"/>
            <a:r>
              <a:rPr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498977D2-4CCA-0CBE-EF92-768B6B9CE21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7352" y="191643"/>
            <a:ext cx="1103582" cy="1342897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4A33F281-5824-F6D6-CEB4-402A38924EF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203" y="191643"/>
            <a:ext cx="1520062" cy="1342897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4E3BEE61-183C-3907-2DA5-01A7CF26DF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1864" y="1952445"/>
            <a:ext cx="7064674" cy="4796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</a:pPr>
            <a:r>
              <a:rPr lang="en-US" sz="2400">
                <a:latin typeface="Times New Roman"/>
                <a:ea typeface="+mn-lt"/>
                <a:cs typeface="+mn-lt"/>
              </a:rPr>
              <a:t>Traditional puzzle solvers use basic backtracking, leading to high time complexity.</a:t>
            </a:r>
            <a:endParaRPr lang="en-US" sz="2400">
              <a:latin typeface="Times New Roman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2400">
                <a:latin typeface="Times New Roman"/>
                <a:ea typeface="+mn-lt"/>
                <a:cs typeface="+mn-lt"/>
              </a:rPr>
              <a:t>There is a need for an efficient and intelligent puzzle-solving approach.</a:t>
            </a:r>
            <a:endParaRPr lang="en-US" sz="2400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</a:pPr>
            <a:r>
              <a:rPr lang="en-US" sz="2400">
                <a:latin typeface="Times New Roman"/>
                <a:ea typeface="+mn-lt"/>
                <a:cs typeface="+mn-lt"/>
              </a:rPr>
              <a:t>Existing puzzle solvers rely on brute-force or basic backtracking methods.</a:t>
            </a:r>
            <a:endParaRPr lang="en-US" sz="2400">
              <a:latin typeface="Times New Roman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2400">
                <a:latin typeface="Times New Roman"/>
                <a:ea typeface="+mn-lt"/>
                <a:cs typeface="+mn-lt"/>
              </a:rPr>
              <a:t>These approaches result in excessive backtracking and slow performance.</a:t>
            </a:r>
            <a:endParaRPr lang="en-US">
              <a:latin typeface="Times New Roman"/>
              <a:cs typeface="Times New Roman"/>
            </a:endParaRPr>
          </a:p>
          <a:p>
            <a:pPr algn="just">
              <a:lnSpc>
                <a:spcPct val="100000"/>
              </a:lnSpc>
            </a:pPr>
            <a:r>
              <a:rPr lang="en-US" sz="2400">
                <a:latin typeface="Times New Roman"/>
                <a:ea typeface="+mn-lt"/>
                <a:cs typeface="+mn-lt"/>
              </a:rPr>
              <a:t>An optimized and explainable AI-based solution is required.</a:t>
            </a:r>
            <a:endParaRPr lang="en-US" sz="2400">
              <a:latin typeface="Times New Roman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Problem Statement Vector Icon Isolated on Transparent Background ...">
            <a:extLst>
              <a:ext uri="{FF2B5EF4-FFF2-40B4-BE49-F238E27FC236}">
                <a16:creationId xmlns:a16="http://schemas.microsoft.com/office/drawing/2014/main" id="{80282AC5-24C2-0758-6064-902CFFF7A9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23" b="5993"/>
          <a:stretch>
            <a:fillRect/>
          </a:stretch>
        </p:blipFill>
        <p:spPr>
          <a:xfrm>
            <a:off x="7895665" y="2282806"/>
            <a:ext cx="3875003" cy="314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651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E4C3865-CD8D-0C44-37BF-57C70F385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6689" y="162304"/>
            <a:ext cx="1514475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1D2679-B1BF-4E75-25FB-D1B1D72F3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51" y="162304"/>
            <a:ext cx="1095375" cy="1343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5C7E4B5-1DD7-D612-0FBA-E4531592FF23}"/>
              </a:ext>
            </a:extLst>
          </p:cNvPr>
          <p:cNvSpPr txBox="1"/>
          <p:nvPr/>
        </p:nvSpPr>
        <p:spPr>
          <a:xfrm>
            <a:off x="1443727" y="305875"/>
            <a:ext cx="90729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ED37988-0B7C-BEA6-6DBE-E8E36C8F9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1670" y="1857650"/>
            <a:ext cx="6871633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buFont typeface="Arial" panose="020B0604020202020204" pitchFamily="34" charset="0"/>
              <a:buChar char="•"/>
            </a:pPr>
            <a:r>
              <a:rPr lang="en-US" sz="2400">
                <a:latin typeface="Times New Roman"/>
                <a:ea typeface="+mn-lt"/>
                <a:cs typeface="+mn-lt"/>
              </a:rPr>
              <a:t>To design a generic CSP-based puzzle-solving system.</a:t>
            </a:r>
            <a:endParaRPr lang="en-US" altLang="en-US" sz="2400">
              <a:latin typeface="Times New Roman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>
                <a:latin typeface="Times New Roman"/>
                <a:ea typeface="+mn-lt"/>
                <a:cs typeface="+mn-lt"/>
              </a:rPr>
              <a:t>To implement a core backtracking algorithm for correctness.</a:t>
            </a:r>
            <a:endParaRPr lang="en-US" sz="2400">
              <a:latin typeface="Times New Roman"/>
              <a:cs typeface="Times New Roman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>
                <a:latin typeface="Times New Roman"/>
                <a:ea typeface="+mn-lt"/>
                <a:cs typeface="+mn-lt"/>
              </a:rPr>
              <a:t>To integrate heuristics (MRV, LCV, Forward Checking) for optimization.</a:t>
            </a:r>
            <a:endParaRPr lang="en-US" sz="2400">
              <a:latin typeface="Times New Roman"/>
              <a:cs typeface="Times New Roman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>
                <a:latin typeface="Times New Roman"/>
                <a:ea typeface="+mn-lt"/>
                <a:cs typeface="+mn-lt"/>
              </a:rPr>
              <a:t>To reduce execution time and search space.</a:t>
            </a:r>
            <a:endParaRPr lang="en-US" sz="2400">
              <a:latin typeface="Times New Roman"/>
              <a:cs typeface="Times New Roman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>
                <a:latin typeface="Times New Roman"/>
                <a:ea typeface="+mn-lt"/>
                <a:cs typeface="+mn-lt"/>
              </a:rPr>
              <a:t>To provide real-time visualization and performance analysis.</a:t>
            </a:r>
            <a:endParaRPr lang="en-US" sz="2400">
              <a:latin typeface="Times New Roman"/>
              <a:cs typeface="Times New Roman"/>
            </a:endParaRPr>
          </a:p>
        </p:txBody>
      </p:sp>
      <p:pic>
        <p:nvPicPr>
          <p:cNvPr id="5" name="Picture 4" descr="10 best factors to consider to choose a WordPress theme">
            <a:extLst>
              <a:ext uri="{FF2B5EF4-FFF2-40B4-BE49-F238E27FC236}">
                <a16:creationId xmlns:a16="http://schemas.microsoft.com/office/drawing/2014/main" id="{200B88F3-510C-9FF1-26E1-B1B6BB32F3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51" r="-323" b="303"/>
          <a:stretch>
            <a:fillRect/>
          </a:stretch>
        </p:blipFill>
        <p:spPr>
          <a:xfrm>
            <a:off x="588697" y="1857650"/>
            <a:ext cx="3490324" cy="365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015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DF806-1B06-B0BF-578A-1209BA89A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BAEA03-84CF-9922-7C9C-E2C723BE3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6689" y="162304"/>
            <a:ext cx="1514475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41B738-1440-4584-7819-D747BCE5A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51" y="162304"/>
            <a:ext cx="1095375" cy="1343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116BB49-40E7-BFA8-A16A-D9251D755791}"/>
              </a:ext>
            </a:extLst>
          </p:cNvPr>
          <p:cNvSpPr txBox="1"/>
          <p:nvPr/>
        </p:nvSpPr>
        <p:spPr>
          <a:xfrm>
            <a:off x="1443727" y="305875"/>
            <a:ext cx="9072962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400">
                <a:solidFill>
                  <a:srgbClr val="FF0000"/>
                </a:solidFill>
                <a:latin typeface="Times New Roman"/>
                <a:cs typeface="Times New Roman"/>
              </a:rPr>
              <a:t>Proposed Methodology</a:t>
            </a:r>
            <a:endParaRPr lang="en-US" sz="4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E6A639-1459-BDBF-4789-B26BD226C3AA}"/>
              </a:ext>
            </a:extLst>
          </p:cNvPr>
          <p:cNvSpPr txBox="1"/>
          <p:nvPr/>
        </p:nvSpPr>
        <p:spPr>
          <a:xfrm>
            <a:off x="896038" y="2415374"/>
            <a:ext cx="6485287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+mn-lt"/>
              </a:rPr>
              <a:t>To design a generic CSP-based puzzle solver.</a:t>
            </a:r>
            <a:endParaRPr lang="en-US" sz="2400">
              <a:latin typeface="Times New Roman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+mn-lt"/>
              </a:rPr>
              <a:t>To implement backtracking for correct solutions.</a:t>
            </a:r>
            <a:endParaRPr lang="en-US" sz="2400">
              <a:latin typeface="Times New Roman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+mn-lt"/>
              </a:rPr>
              <a:t>To apply MRV, LCV, and Forward Checking heuristics.</a:t>
            </a:r>
            <a:endParaRPr lang="en-US" sz="2400">
              <a:latin typeface="Times New Roman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+mn-lt"/>
              </a:rPr>
              <a:t>To reduce search space and execution time.</a:t>
            </a:r>
            <a:endParaRPr lang="en-US" sz="2400">
              <a:latin typeface="Times New Roman"/>
              <a:cs typeface="Times New Roman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400">
                <a:latin typeface="Times New Roman"/>
                <a:ea typeface="+mn-lt"/>
                <a:cs typeface="+mn-lt"/>
              </a:rPr>
              <a:t>To provide real-time visualization and performance analysis.</a:t>
            </a:r>
            <a:endParaRPr lang="en-US" sz="2400">
              <a:latin typeface="Times New Roman"/>
              <a:cs typeface="Times New Roman"/>
            </a:endParaRPr>
          </a:p>
        </p:txBody>
      </p:sp>
      <p:pic>
        <p:nvPicPr>
          <p:cNvPr id="7" name="Picture 6" descr="Sudoku Solver-Free, AI-powered Sudoku help">
            <a:extLst>
              <a:ext uri="{FF2B5EF4-FFF2-40B4-BE49-F238E27FC236}">
                <a16:creationId xmlns:a16="http://schemas.microsoft.com/office/drawing/2014/main" id="{D18CE755-3D0F-F248-5FE8-ECBE738D6D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7577" y="2281518"/>
            <a:ext cx="3314700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531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5C99C-D508-5F44-7D57-D506C14F8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318" y="163419"/>
            <a:ext cx="9081248" cy="1157474"/>
          </a:xfrm>
        </p:spPr>
        <p:txBody>
          <a:bodyPr/>
          <a:lstStyle/>
          <a:p>
            <a:pPr algn="ctr"/>
            <a:r>
              <a:rPr lang="en-US">
                <a:solidFill>
                  <a:srgbClr val="FF0000"/>
                </a:solidFill>
                <a:latin typeface="Times New Roman"/>
                <a:cs typeface="Times New Roman"/>
              </a:rPr>
              <a:t>Architecture diagram</a:t>
            </a:r>
            <a:endParaRPr lang="en-US">
              <a:latin typeface="Times New Roman"/>
              <a:cs typeface="Times New Roman"/>
            </a:endParaRPr>
          </a:p>
        </p:txBody>
      </p:sp>
      <p:pic>
        <p:nvPicPr>
          <p:cNvPr id="5" name="Picture 4" descr="A logo with letters and numbers&#10;&#10;AI-generated content may be incorrect.">
            <a:extLst>
              <a:ext uri="{FF2B5EF4-FFF2-40B4-BE49-F238E27FC236}">
                <a16:creationId xmlns:a16="http://schemas.microsoft.com/office/drawing/2014/main" id="{1BDBEC2F-9DD9-A408-CF0F-3A883E900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51" y="162304"/>
            <a:ext cx="1095375" cy="1343025"/>
          </a:xfrm>
          <a:prstGeom prst="rect">
            <a:avLst/>
          </a:prstGeom>
        </p:spPr>
      </p:pic>
      <p:pic>
        <p:nvPicPr>
          <p:cNvPr id="7" name="Picture 6" descr="A blue circular logo with a book and a caduceus&#10;&#10;AI-generated content may be incorrect.">
            <a:extLst>
              <a:ext uri="{FF2B5EF4-FFF2-40B4-BE49-F238E27FC236}">
                <a16:creationId xmlns:a16="http://schemas.microsoft.com/office/drawing/2014/main" id="{15863416-6F9F-2A2F-57AF-621605537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6689" y="162304"/>
            <a:ext cx="1514475" cy="1343025"/>
          </a:xfrm>
          <a:prstGeom prst="rect">
            <a:avLst/>
          </a:prstGeom>
        </p:spPr>
      </p:pic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89E4479-DF36-C8A9-B21E-DFD100F55B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96755" y="1702361"/>
            <a:ext cx="10376078" cy="4642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550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7C32F-EFA7-9C6F-A5FD-0AD260FC5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AF85D8-33DE-9DC1-6114-EBCE5FE39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6689" y="25584"/>
            <a:ext cx="1514475" cy="1343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78E5E9-D9FA-0EE2-5E8E-44EC042EB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36" y="19082"/>
            <a:ext cx="1095375" cy="13430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EDAACD-22D5-3AC3-2946-BF244C80F989}"/>
              </a:ext>
            </a:extLst>
          </p:cNvPr>
          <p:cNvSpPr txBox="1"/>
          <p:nvPr/>
        </p:nvSpPr>
        <p:spPr>
          <a:xfrm>
            <a:off x="1264888" y="305875"/>
            <a:ext cx="8947748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400">
                <a:solidFill>
                  <a:srgbClr val="FF0000"/>
                </a:solidFill>
                <a:latin typeface="Times New Roman"/>
                <a:cs typeface="Times New Roman"/>
              </a:rPr>
              <a:t>Modules overview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C1850F-68A0-2059-E296-69C9DDD2E5D8}"/>
              </a:ext>
            </a:extLst>
          </p:cNvPr>
          <p:cNvSpPr txBox="1"/>
          <p:nvPr/>
        </p:nvSpPr>
        <p:spPr>
          <a:xfrm>
            <a:off x="1775159" y="2521059"/>
            <a:ext cx="5420298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28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Modules:</a:t>
            </a:r>
            <a:endParaRPr lang="en-US">
              <a:sym typeface="Times New Roman"/>
            </a:endParaRPr>
          </a:p>
          <a:p>
            <a:pPr lvl="0"/>
            <a:br>
              <a:rPr lang="en-GB" sz="2800" b="1">
                <a:latin typeface="Times New Roman"/>
                <a:ea typeface="Times New Roman"/>
                <a:cs typeface="Times New Roman"/>
              </a:rPr>
            </a:br>
            <a:r>
              <a:rPr lang="en-GB" sz="2800">
                <a:latin typeface="Times New Roman"/>
                <a:ea typeface="Times New Roman"/>
                <a:cs typeface="Times New Roman"/>
                <a:sym typeface="Times New Roman"/>
              </a:rPr>
              <a:t>1. Core CSP &amp; Backtracking</a:t>
            </a:r>
            <a:endParaRPr lang="en-GB"/>
          </a:p>
          <a:p>
            <a:endParaRPr lang="en-GB"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/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2. Heuristic &amp; Optimization Layer </a:t>
            </a:r>
            <a:endParaRPr lang="en-GB"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98429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>
            <a:spLocks noGrp="1"/>
          </p:cNvSpPr>
          <p:nvPr>
            <p:ph type="ctrTitle"/>
          </p:nvPr>
        </p:nvSpPr>
        <p:spPr>
          <a:xfrm>
            <a:off x="1255400" y="164665"/>
            <a:ext cx="9681200" cy="1190868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 sz="40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Core CSP &amp; Backtracking</a:t>
            </a:r>
            <a:endParaRPr sz="40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0" name="Google Shape;13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36334" y="-1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31" name="Google Shape;13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8833" y="0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Subtitle 1">
            <a:extLst>
              <a:ext uri="{FF2B5EF4-FFF2-40B4-BE49-F238E27FC236}">
                <a16:creationId xmlns:a16="http://schemas.microsoft.com/office/drawing/2014/main" id="{39DF9DBC-8629-8F68-245F-792307F1C2D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40029" y="2316203"/>
            <a:ext cx="6954762" cy="3318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 eaLnBrk="0" fontAlgn="base" hangingPunct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/>
                <a:ea typeface="+mn-lt"/>
                <a:cs typeface="+mn-lt"/>
              </a:rPr>
              <a:t>Models the puzzle as a CSP (variables, domains, constraints).</a:t>
            </a:r>
            <a:endParaRPr lang="en-US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/>
                <a:ea typeface="+mn-lt"/>
                <a:cs typeface="+mn-lt"/>
              </a:rPr>
              <a:t>Uses recursive backtracking for value assignment.</a:t>
            </a:r>
            <a:endParaRPr lang="en-US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/>
                <a:ea typeface="+mn-lt"/>
                <a:cs typeface="+mn-lt"/>
              </a:rPr>
              <a:t>Checks constraints to detect conflicts early.</a:t>
            </a:r>
            <a:endParaRPr lang="en-US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/>
                <a:ea typeface="+mn-lt"/>
                <a:cs typeface="+mn-lt"/>
              </a:rPr>
              <a:t>Backtracks by undoing invalid assignments.</a:t>
            </a:r>
            <a:endParaRPr lang="en-US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/>
                <a:ea typeface="+mn-lt"/>
                <a:cs typeface="+mn-lt"/>
              </a:rPr>
              <a:t>Works as a generic solver for different puzzles.</a:t>
            </a:r>
            <a:endParaRPr lang="en-US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>
                <a:latin typeface="Times New Roman"/>
                <a:ea typeface="+mn-lt"/>
                <a:cs typeface="+mn-lt"/>
              </a:rPr>
              <a:t>Ensures correct and complete solutions.</a:t>
            </a:r>
            <a:endParaRPr lang="en-US">
              <a:latin typeface="Times New Roman"/>
              <a:cs typeface="Times New Roman"/>
            </a:endParaRPr>
          </a:p>
        </p:txBody>
      </p:sp>
      <p:pic>
        <p:nvPicPr>
          <p:cNvPr id="3" name="Picture 2" descr="Backtracking Algorithm &amp; 10 Popular Problems in C++">
            <a:extLst>
              <a:ext uri="{FF2B5EF4-FFF2-40B4-BE49-F238E27FC236}">
                <a16:creationId xmlns:a16="http://schemas.microsoft.com/office/drawing/2014/main" id="{12BE038B-3515-BA1B-886E-B9056FD5EC2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872" t="5416" r="6757" b="12236"/>
          <a:stretch>
            <a:fillRect/>
          </a:stretch>
        </p:blipFill>
        <p:spPr>
          <a:xfrm>
            <a:off x="7804722" y="2445903"/>
            <a:ext cx="3503364" cy="29016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>
            <a:spLocks noGrp="1"/>
          </p:cNvSpPr>
          <p:nvPr>
            <p:ph type="ctrTitle"/>
          </p:nvPr>
        </p:nvSpPr>
        <p:spPr>
          <a:xfrm>
            <a:off x="1107401" y="153036"/>
            <a:ext cx="10035600" cy="1190866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  <a:buSzPts val="990"/>
            </a:pPr>
            <a:r>
              <a:rPr lang="en-GB" sz="40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2:</a:t>
            </a:r>
            <a:r>
              <a:rPr lang="en-US" sz="40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Heuristic &amp; Optimization Layer </a:t>
            </a:r>
            <a:endParaRPr lang="en-US" sz="4000" dirty="0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39" name="Google Shape;13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36334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40" name="Google Shape;14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568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1AAAE957-AFCC-75C4-DAED-5889EE86BB5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97797" y="2248587"/>
            <a:ext cx="7411570" cy="36881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 eaLnBrk="0" fontAlgn="base" hangingPunct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  Uses MRV to select the most constrained variable.</a:t>
            </a:r>
            <a:endParaRPr lang="en-US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  Applies LCV to choose the least restrictive value.</a:t>
            </a:r>
            <a:endParaRPr lang="en-US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Implements Forward Checking to remove invalid values early.</a:t>
            </a:r>
            <a:endParaRPr lang="en-US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  Performs domain pruning to reduce search space.</a:t>
            </a:r>
            <a:endParaRPr lang="en-US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 Improves backtracking efficiency without affecting correctness.</a:t>
            </a:r>
            <a:endParaRPr lang="en-US" dirty="0">
              <a:latin typeface="Times New Roman"/>
              <a:cs typeface="Times New Roman"/>
            </a:endParaRPr>
          </a:p>
          <a:p>
            <a:pPr marL="342900" indent="-34290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/>
                <a:ea typeface="+mn-lt"/>
                <a:cs typeface="+mn-lt"/>
              </a:rPr>
              <a:t>  Reduces execution time and backtracking depth.</a:t>
            </a:r>
            <a:endParaRPr lang="en-US" dirty="0">
              <a:latin typeface="Times New Roman"/>
              <a:cs typeface="Times New Roman"/>
            </a:endParaRPr>
          </a:p>
        </p:txBody>
      </p:sp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95D83181-BE46-B897-E0B7-46111289CE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9265" y="1999800"/>
            <a:ext cx="2662457" cy="42022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>
            <a:spLocks noGrp="1"/>
          </p:cNvSpPr>
          <p:nvPr>
            <p:ph type="ctrTitle"/>
          </p:nvPr>
        </p:nvSpPr>
        <p:spPr>
          <a:xfrm>
            <a:off x="2842352" y="316050"/>
            <a:ext cx="5935390" cy="7536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 fontScale="90000"/>
          </a:bodyPr>
          <a:lstStyle/>
          <a:p>
            <a:pPr>
              <a:spcBef>
                <a:spcPts val="0"/>
              </a:spcBef>
            </a:pPr>
            <a:r>
              <a:rPr lang="en-GB" sz="4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Implementation</a:t>
            </a:r>
            <a:endParaRPr sz="4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4" name="Google Shape;16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65167" y="0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65" name="Google Shape;16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1676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10632E-CC0D-5D79-83E6-F9087A95FF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948" y="1189972"/>
            <a:ext cx="10768560" cy="56680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262CD2EA-AE40-0514-1955-4D61647AD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>
            <a:extLst>
              <a:ext uri="{FF2B5EF4-FFF2-40B4-BE49-F238E27FC236}">
                <a16:creationId xmlns:a16="http://schemas.microsoft.com/office/drawing/2014/main" id="{DE63BE6A-27A6-63AB-37AB-0B4185421A4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842352" y="316050"/>
            <a:ext cx="5935390" cy="7536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 fontScale="90000"/>
          </a:bodyPr>
          <a:lstStyle/>
          <a:p>
            <a:pPr>
              <a:spcBef>
                <a:spcPts val="0"/>
              </a:spcBef>
            </a:pPr>
            <a:r>
              <a:rPr lang="en-GB" sz="4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4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4" name="Google Shape;164;p21">
            <a:extLst>
              <a:ext uri="{FF2B5EF4-FFF2-40B4-BE49-F238E27FC236}">
                <a16:creationId xmlns:a16="http://schemas.microsoft.com/office/drawing/2014/main" id="{D7C30175-9FEF-486E-8100-3286A0D82C0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36334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65" name="Google Shape;165;p21">
            <a:extLst>
              <a:ext uri="{FF2B5EF4-FFF2-40B4-BE49-F238E27FC236}">
                <a16:creationId xmlns:a16="http://schemas.microsoft.com/office/drawing/2014/main" id="{6F258ACD-BD78-710F-F835-B76D90BB514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568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EF6FF17A-7370-41CB-9D46-9270942C0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679" y="2200236"/>
            <a:ext cx="7994439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Pure backtracking guarantees correct solutions but is slow for complex puzzles.</a:t>
            </a:r>
            <a:endParaRPr lang="en-US" dirty="0"/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Heuristic techniques reduce unnecessary search and computation time.</a:t>
            </a:r>
            <a:endParaRPr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Combining backtracking with heuristics improves overall efficiency.</a:t>
            </a:r>
            <a:endParaRPr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Applicable to puzzles like Sudoku and N-Queens.</a:t>
            </a:r>
            <a:endParaRPr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Useful as an educational tool for learning AI search techniques.</a:t>
            </a:r>
            <a:endParaRPr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Conclusion Vector Outline Icon Design Illustration Assessment Symbol On ...">
            <a:extLst>
              <a:ext uri="{FF2B5EF4-FFF2-40B4-BE49-F238E27FC236}">
                <a16:creationId xmlns:a16="http://schemas.microsoft.com/office/drawing/2014/main" id="{E1417F83-D32B-774D-0E93-4A11EEC011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6583" y="2342406"/>
            <a:ext cx="3582539" cy="308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817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445A1D54-15AF-DA66-40DD-AACBFB150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>
            <a:extLst>
              <a:ext uri="{FF2B5EF4-FFF2-40B4-BE49-F238E27FC236}">
                <a16:creationId xmlns:a16="http://schemas.microsoft.com/office/drawing/2014/main" id="{03706423-1C6A-63FE-EDEC-BE3E82E36FB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842352" y="316050"/>
            <a:ext cx="5935390" cy="7536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 fontScale="90000"/>
          </a:bodyPr>
          <a:lstStyle/>
          <a:p>
            <a:pPr>
              <a:spcBef>
                <a:spcPts val="0"/>
              </a:spcBef>
            </a:pPr>
            <a:r>
              <a:rPr lang="en-GB" sz="4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sz="4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4" name="Google Shape;164;p21">
            <a:extLst>
              <a:ext uri="{FF2B5EF4-FFF2-40B4-BE49-F238E27FC236}">
                <a16:creationId xmlns:a16="http://schemas.microsoft.com/office/drawing/2014/main" id="{D4417D3E-D16E-0D43-97B5-F06CBE58351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36334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65" name="Google Shape;165;p21">
            <a:extLst>
              <a:ext uri="{FF2B5EF4-FFF2-40B4-BE49-F238E27FC236}">
                <a16:creationId xmlns:a16="http://schemas.microsoft.com/office/drawing/2014/main" id="{28730042-EEB5-6F36-F0EB-AC6EF7018B55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568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1C5CF513-E39A-3189-C610-AA12DE835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9060" y="2053698"/>
            <a:ext cx="764801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Extend the solver to support more complex puzzles like crosswords and mazes.</a:t>
            </a:r>
            <a:endParaRPr lang="en-US"/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machine learning to automatically select optimal heuristics.</a:t>
            </a:r>
            <a:endParaRPr lang="en-US" altLang="en-US" sz="24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performance for large-scale and real-time applications.</a:t>
            </a:r>
            <a:endParaRPr lang="en-US" altLang="en-US" sz="24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visual interface for better understanding and learning.</a:t>
            </a:r>
            <a:endParaRPr lang="en-US" altLang="en-US" sz="24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adaptive heuristics based on puzzle difficulty.</a:t>
            </a:r>
            <a:endParaRPr lang="en-US" altLang="en-US" sz="24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 the system for parallel and distributed computing environments.</a:t>
            </a:r>
            <a:endParaRPr lang="en-US" altLang="en-US" sz="24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Premium Vector | Vector Design Eye Recognition Icon Style">
            <a:extLst>
              <a:ext uri="{FF2B5EF4-FFF2-40B4-BE49-F238E27FC236}">
                <a16:creationId xmlns:a16="http://schemas.microsoft.com/office/drawing/2014/main" id="{4AD84C2D-9F52-DED2-1FAB-59CEE35478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635" y="2528047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>
          <a:extLst>
            <a:ext uri="{FF2B5EF4-FFF2-40B4-BE49-F238E27FC236}">
              <a16:creationId xmlns:a16="http://schemas.microsoft.com/office/drawing/2014/main" id="{4C2A046B-915E-AAC0-AFCC-42C5EB74C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>
            <a:extLst>
              <a:ext uri="{FF2B5EF4-FFF2-40B4-BE49-F238E27FC236}">
                <a16:creationId xmlns:a16="http://schemas.microsoft.com/office/drawing/2014/main" id="{F44B1BCC-2166-94CE-8B44-49E12DDCA2E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842352" y="316050"/>
            <a:ext cx="5935390" cy="753633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rmAutofit fontScale="90000"/>
          </a:bodyPr>
          <a:lstStyle/>
          <a:p>
            <a:pPr>
              <a:spcBef>
                <a:spcPts val="0"/>
              </a:spcBef>
            </a:pPr>
            <a:r>
              <a:rPr lang="en-GB" sz="4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 </a:t>
            </a:r>
            <a:endParaRPr sz="4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4" name="Google Shape;164;p21">
            <a:extLst>
              <a:ext uri="{FF2B5EF4-FFF2-40B4-BE49-F238E27FC236}">
                <a16:creationId xmlns:a16="http://schemas.microsoft.com/office/drawing/2014/main" id="{10357565-3814-743A-717E-E19CF8DE261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36334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65" name="Google Shape;165;p21">
            <a:extLst>
              <a:ext uri="{FF2B5EF4-FFF2-40B4-BE49-F238E27FC236}">
                <a16:creationId xmlns:a16="http://schemas.microsoft.com/office/drawing/2014/main" id="{10847726-1E64-B65E-6576-B2734A459A1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568" y="117833"/>
            <a:ext cx="1026833" cy="1190867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67DDEE9-1601-575E-D13B-91B81DA93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594" y="1783692"/>
            <a:ext cx="10694812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R. Dechter, “Constraint Satisfaction Problems: Algorithms and Applications,” Artificial Intelligence, vol. 310, pp. 1–25, 2024.</a:t>
            </a:r>
            <a:endParaRPr lang="en-US"/>
          </a:p>
          <a:p>
            <a:pPr marL="342900" indent="-342900" algn="just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>
              <a:latin typeface="Times New Roman"/>
              <a:cs typeface="Times New Roman"/>
            </a:endParaRP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L. Zhang and H. Liu, “Heuristic-Guided Backtracking for Efficient N-Queens Problem Solving,” Journal of Artificial Intelligence Research, vol. 78, pp. 145–160, 2024.</a:t>
            </a:r>
            <a:endParaRPr lang="en-US" altLang="en-US" sz="2000" b="0" u="none" strike="noStrike" cap="none" normalizeH="0" baseline="0">
              <a:ln>
                <a:noFill/>
              </a:ln>
              <a:effectLst/>
              <a:latin typeface="Times New Roman"/>
              <a:cs typeface="Times New Roman"/>
            </a:endParaRPr>
          </a:p>
          <a:p>
            <a:pPr marL="342900" indent="-342900" algn="just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>
              <a:latin typeface="Times New Roman"/>
              <a:cs typeface="Times New Roman"/>
            </a:endParaRP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S. Kumar and R. Mehta, “Performance Analysis of Backtracking with Heuristics for Logic-Based Puzzle Solving,” International Journal of Computer Applications, vol. 186, no. 12, pp. 20–26, 2025.</a:t>
            </a:r>
            <a:endParaRPr lang="en-US" altLang="en-US" sz="2000" b="0" u="none" strike="noStrike" cap="none" normalizeH="0" baseline="0">
              <a:ln>
                <a:noFill/>
              </a:ln>
              <a:effectLst/>
              <a:latin typeface="Times New Roman"/>
              <a:cs typeface="Times New Roman"/>
            </a:endParaRPr>
          </a:p>
          <a:p>
            <a:pPr marL="342900" indent="-342900" algn="just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>
              <a:latin typeface="Times New Roman"/>
              <a:cs typeface="Times New Roman"/>
            </a:endParaRP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A. Sharma, K. Patel, and M. Verma, “An AI-Based Generic Puzzle Solver Using Heuristic Search Techniques,” IEEE Access, vol. 13, pp. 45560–45570, 2025.</a:t>
            </a:r>
            <a:endParaRPr lang="en-US" altLang="en-US" sz="2000" b="0" u="none" strike="noStrike" cap="none" normalizeH="0" baseline="0">
              <a:ln>
                <a:noFill/>
              </a:ln>
              <a:effectLst/>
              <a:latin typeface="Times New Roman"/>
              <a:cs typeface="Times New Roman"/>
            </a:endParaRPr>
          </a:p>
          <a:p>
            <a:pPr marL="342900" indent="-342900" algn="just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>
              <a:latin typeface="Times New Roman"/>
              <a:cs typeface="Times New Roman"/>
            </a:endParaRP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u="none" strike="noStrike" cap="none" normalizeH="0" baseline="0">
                <a:ln>
                  <a:noFill/>
                </a:ln>
                <a:effectLst/>
                <a:latin typeface="Times New Roman"/>
                <a:cs typeface="Times New Roman"/>
              </a:rPr>
              <a:t>S. Russell and P. Norvig, Artificial Intelligence: A Modern Approach, 4th ed., Pearson Education, 2024.</a:t>
            </a:r>
            <a:endParaRPr lang="en-US" altLang="en-US" sz="2000" b="0" u="none" strike="noStrike" cap="none" normalizeH="0" baseline="0">
              <a:ln>
                <a:noFill/>
              </a:ln>
              <a:effectLst/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2884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lat Thank You Slide Template for PowerPoint">
            <a:extLst>
              <a:ext uri="{FF2B5EF4-FFF2-40B4-BE49-F238E27FC236}">
                <a16:creationId xmlns:a16="http://schemas.microsoft.com/office/drawing/2014/main" id="{1319B9DF-3FA4-D9E1-8F6D-15629AF808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9859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696</Words>
  <Application>Microsoft Office PowerPoint</Application>
  <PresentationFormat>Widescreen</PresentationFormat>
  <Paragraphs>89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Raleway</vt:lpstr>
      <vt:lpstr>Times New Roman</vt:lpstr>
      <vt:lpstr>VT323</vt:lpstr>
      <vt:lpstr>Office Theme</vt:lpstr>
      <vt:lpstr>AI-Based Puzzle Solver Using Backtracking and Heuristics  CSA 0612- Design and Analysis of Algorithms for Backtracking  </vt:lpstr>
      <vt:lpstr>Agenda</vt:lpstr>
      <vt:lpstr>Introduction</vt:lpstr>
      <vt:lpstr>Problem statement</vt:lpstr>
      <vt:lpstr>PowerPoint Presentation</vt:lpstr>
      <vt:lpstr>PowerPoint Presentation</vt:lpstr>
      <vt:lpstr>Architecture diagram</vt:lpstr>
      <vt:lpstr>PowerPoint Presentation</vt:lpstr>
      <vt:lpstr>Module 1: Core CSP &amp; Backtracking</vt:lpstr>
      <vt:lpstr>Module 2: Heuristic &amp; Optimization Layer </vt:lpstr>
      <vt:lpstr>Implementation</vt:lpstr>
      <vt:lpstr>Conclusion</vt:lpstr>
      <vt:lpstr>Future scope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SHANNU KARANAM</dc:creator>
  <cp:lastModifiedBy>SHANNU KARANAM</cp:lastModifiedBy>
  <cp:revision>1</cp:revision>
  <dcterms:created xsi:type="dcterms:W3CDTF">2025-11-04T04:14:07Z</dcterms:created>
  <dcterms:modified xsi:type="dcterms:W3CDTF">2026-02-02T09:14:07Z</dcterms:modified>
</cp:coreProperties>
</file>